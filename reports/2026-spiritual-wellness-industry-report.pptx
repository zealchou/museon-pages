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0"/>
            <a:ext cx="73152" cy="2560320"/>
          </a:xfrm>
          <a:prstGeom prst="rect">
            <a:avLst/>
          </a:prstGeom>
          <a:solidFill>
            <a:srgbClr val="C45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0714D"/>
                </a:solidFill>
              </a:rPr>
              <a:t>MUSEON 產業情報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2026 身心靈產業
趨勢全景報告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090A0"/>
                </a:solidFill>
              </a:rPr>
              <a:t>六大宏觀力量 · 市場競爭矩陣 · 老師痛點地圖 · 四階段創業旅程 · 藍海佈局策略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572000"/>
            <a:ext cx="2560320" cy="1645920"/>
          </a:xfrm>
          <a:prstGeom prst="rect">
            <a:avLst/>
          </a:prstGeom>
          <a:solidFill>
            <a:srgbClr val="1E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66344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C4502A"/>
                </a:solidFill>
              </a:rPr>
              <a:t>$7.1T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4864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090A0"/>
                </a:solidFill>
              </a:rPr>
              <a:t>全球市場規模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66160" y="4572000"/>
            <a:ext cx="2560320" cy="1645920"/>
          </a:xfrm>
          <a:prstGeom prst="rect">
            <a:avLst/>
          </a:prstGeom>
          <a:solidFill>
            <a:srgbClr val="1E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466344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C4502A"/>
                </a:solidFill>
              </a:rPr>
              <a:t>NT$180B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54864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090A0"/>
                </a:solidFill>
              </a:rPr>
              <a:t>台灣市場規模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4572000"/>
            <a:ext cx="2560320" cy="1645920"/>
          </a:xfrm>
          <a:prstGeom prst="rect">
            <a:avLst/>
          </a:prstGeom>
          <a:solidFill>
            <a:srgbClr val="1E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466344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C4502A"/>
                </a:solidFill>
              </a:rPr>
              <a:t>8.5%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54864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090A0"/>
                </a:solidFill>
              </a:rPr>
              <a:t>CAGR 成長率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35440" y="4572000"/>
            <a:ext cx="2560320" cy="1645920"/>
          </a:xfrm>
          <a:prstGeom prst="rect">
            <a:avLst/>
          </a:prstGeom>
          <a:solidFill>
            <a:srgbClr val="1E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72600" y="466344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C4502A"/>
                </a:solidFill>
              </a:rPr>
              <a:t>85%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72600" y="54864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090A0"/>
                </a:solidFill>
              </a:rPr>
              <a:t>老師年收&lt;60萬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C4502A"/>
                </a:solidFill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3716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遠景趨勢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685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090A0"/>
                </a:solidFill>
              </a:rPr>
              <a:t>六大宏觀力量正在重塑身心靈產業的遊戲規則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3657600" cy="2286000"/>
          </a:xfrm>
          <a:prstGeom prst="rect">
            <a:avLst/>
          </a:prstGeom>
          <a:solidFill>
            <a:srgbClr val="FDFC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554480"/>
            <a:ext cx="54864" cy="2286000"/>
          </a:xfrm>
          <a:prstGeom prst="rect">
            <a:avLst/>
          </a:prstGeom>
          <a:solidFill>
            <a:srgbClr val="C45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2121A"/>
                </a:solidFill>
              </a:rPr>
              <a:t>意義消費崛起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94560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5A6E"/>
                </a:solidFill>
              </a:rPr>
              <a:t>Z 世代將「精神成長」列為基本消費，全球身心靈支出年增 11%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554480"/>
            <a:ext cx="3657600" cy="2286000"/>
          </a:xfrm>
          <a:prstGeom prst="rect">
            <a:avLst/>
          </a:prstGeom>
          <a:solidFill>
            <a:srgbClr val="FDFC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554480"/>
            <a:ext cx="54864" cy="2286000"/>
          </a:xfrm>
          <a:prstGeom prst="rect">
            <a:avLst/>
          </a:prstGeom>
          <a:solidFill>
            <a:srgbClr val="2A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7373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2121A"/>
                </a:solidFill>
              </a:rPr>
              <a:t>AI 重塑服務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194560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5A6E"/>
                </a:solidFill>
              </a:rPr>
              <a:t>個人化靈修建議進入市場，情感連結仍是人類老師護城河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554480"/>
            <a:ext cx="3657600" cy="2286000"/>
          </a:xfrm>
          <a:prstGeom prst="rect">
            <a:avLst/>
          </a:prstGeom>
          <a:solidFill>
            <a:srgbClr val="FDFC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1554480"/>
            <a:ext cx="54864" cy="2286000"/>
          </a:xfrm>
          <a:prstGeom prst="rect">
            <a:avLst/>
          </a:prstGeom>
          <a:solidFill>
            <a:srgbClr val="B89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17373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2121A"/>
                </a:solidFill>
              </a:rPr>
              <a:t>企業 B2B 爆發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194560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5A6E"/>
                </a:solidFill>
              </a:rPr>
              <a:t>台灣企業 Wellness 預算佔比從 5% 升至 18%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114800"/>
            <a:ext cx="3657600" cy="2286000"/>
          </a:xfrm>
          <a:prstGeom prst="rect">
            <a:avLst/>
          </a:prstGeom>
          <a:solidFill>
            <a:srgbClr val="FDFC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4114800"/>
            <a:ext cx="54864" cy="2286000"/>
          </a:xfrm>
          <a:prstGeom prst="rect">
            <a:avLst/>
          </a:prstGeom>
          <a:solidFill>
            <a:srgbClr val="7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29768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2121A"/>
                </a:solidFill>
              </a:rPr>
              <a:t>社群部落化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754880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5A6E"/>
                </a:solidFill>
              </a:rPr>
              <a:t>學員社群成為核心資產，「共同旅程」比單點課程更黏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97680" y="4114800"/>
            <a:ext cx="3657600" cy="2286000"/>
          </a:xfrm>
          <a:prstGeom prst="rect">
            <a:avLst/>
          </a:prstGeom>
          <a:solidFill>
            <a:srgbClr val="FDFC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97680" y="4114800"/>
            <a:ext cx="54864" cy="2286000"/>
          </a:xfrm>
          <a:prstGeom prst="rect">
            <a:avLst/>
          </a:prstGeom>
          <a:solidFill>
            <a:srgbClr val="2A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60" y="429768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2121A"/>
                </a:solidFill>
              </a:rPr>
              <a:t>東西融合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4754880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5A6E"/>
                </a:solidFill>
              </a:rPr>
              <a:t>神經科學佐證冥想，「有科學根據的靈性」成為新消費語言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0" y="4114800"/>
            <a:ext cx="3657600" cy="2286000"/>
          </a:xfrm>
          <a:prstGeom prst="rect">
            <a:avLst/>
          </a:prstGeom>
          <a:solidFill>
            <a:srgbClr val="FDFC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0" y="4114800"/>
            <a:ext cx="54864" cy="2286000"/>
          </a:xfrm>
          <a:prstGeom prst="rect">
            <a:avLst/>
          </a:prstGeom>
          <a:solidFill>
            <a:srgbClr val="C45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0" y="429768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2121A"/>
                </a:solidFill>
              </a:rPr>
              <a:t>Somatic 崛起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4754880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5A6E"/>
                </a:solidFill>
              </a:rPr>
              <a:t>身體工作需求暴增，全球認證人數 5 年增 340%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C4502A"/>
                </a:solidFill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3716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現在市場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383280" cy="4114800"/>
          </a:xfrm>
          <a:prstGeom prst="rect">
            <a:avLst/>
          </a:prstGeom>
          <a:solidFill>
            <a:srgbClr val="FDFC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C4502A"/>
                </a:solidFill>
              </a:rPr>
              <a:t>$7.1T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8328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2121A"/>
                </a:solidFill>
              </a:rPr>
              <a:t>全球身心靈市場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0233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D8A6E"/>
                </a:solidFill>
              </a:rPr>
              <a:t>↑ 8.5% CAGR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59" y="1645920"/>
            <a:ext cx="3383280" cy="4114800"/>
          </a:xfrm>
          <a:prstGeom prst="rect">
            <a:avLst/>
          </a:prstGeom>
          <a:solidFill>
            <a:srgbClr val="FDFC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01168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C4502A"/>
                </a:solidFill>
              </a:rPr>
              <a:t>NT$180B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38328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2121A"/>
                </a:solidFill>
              </a:rPr>
              <a:t>台灣市場規模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40233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D8A6E"/>
                </a:solidFill>
              </a:rPr>
              <a:t>↑ 12% YoY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645920"/>
            <a:ext cx="3383280" cy="4114800"/>
          </a:xfrm>
          <a:prstGeom prst="rect">
            <a:avLst/>
          </a:prstGeom>
          <a:solidFill>
            <a:srgbClr val="FDFC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201168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C4502A"/>
                </a:solidFill>
              </a:rPr>
              <a:t>420萬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38328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2121A"/>
                </a:solidFill>
              </a:rPr>
              <a:t>台灣定期消費人數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40233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D8A6E"/>
                </a:solidFill>
              </a:rPr>
              <a:t>佔成人人口 23%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C4502A"/>
                </a:solidFill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0972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十大領域競爭矩陣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2240280" cy="411480"/>
          </a:xfrm>
          <a:prstGeom prst="rect">
            <a:avLst/>
          </a:prstGeom>
          <a:solidFill>
            <a:srgbClr val="1E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6187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領域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0" y="1234440"/>
            <a:ext cx="2148840" cy="411480"/>
          </a:xfrm>
          <a:prstGeom prst="rect">
            <a:avLst/>
          </a:prstGeom>
          <a:solidFill>
            <a:srgbClr val="1E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1760" y="1261872"/>
            <a:ext cx="20116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競爭強度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79" y="1234440"/>
            <a:ext cx="1417320" cy="411480"/>
          </a:xfrm>
          <a:prstGeom prst="rect">
            <a:avLst/>
          </a:prstGeom>
          <a:solidFill>
            <a:srgbClr val="1E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19" y="126187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入門難度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19" y="1234440"/>
            <a:ext cx="1965960" cy="411480"/>
          </a:xfrm>
          <a:prstGeom prst="rect">
            <a:avLst/>
          </a:prstGeom>
          <a:solidFill>
            <a:srgbClr val="1E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59" y="126187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被取代風險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234440"/>
            <a:ext cx="2240280" cy="411480"/>
          </a:xfrm>
          <a:prstGeom prst="rect">
            <a:avLst/>
          </a:prstGeom>
          <a:solidFill>
            <a:srgbClr val="1E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26187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差異化潛力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1691640"/>
            <a:ext cx="11612880" cy="548640"/>
          </a:xfrm>
          <a:prstGeom prst="rect">
            <a:avLst/>
          </a:prstGeom>
          <a:solidFill>
            <a:srgbClr val="FDFC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178308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2121A"/>
                </a:solidFill>
              </a:rPr>
              <a:t>正念冥想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1783080"/>
            <a:ext cx="20116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502A"/>
                </a:solidFill>
              </a:rPr>
              <a:t>🔴 紅海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19" y="178308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2121A"/>
                </a:solidFill>
              </a:rPr>
              <a:t>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59" y="17830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2121A"/>
                </a:solidFill>
              </a:rPr>
              <a:t>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178308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2121A"/>
                </a:solidFill>
              </a:rPr>
              <a:t>低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286000"/>
            <a:ext cx="11612880" cy="54864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23774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2121A"/>
                </a:solidFill>
              </a:rPr>
              <a:t>瑜伽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51760" y="2377440"/>
            <a:ext cx="20116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502A"/>
                </a:solidFill>
              </a:rPr>
              <a:t>🔴 紅海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19" y="237744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2121A"/>
                </a:solidFill>
              </a:rPr>
              <a:t>低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59" y="23774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2121A"/>
                </a:solidFill>
              </a:rPr>
              <a:t>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23774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2121A"/>
                </a:solidFill>
              </a:rPr>
              <a:t>低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2880360"/>
            <a:ext cx="11612880" cy="548640"/>
          </a:xfrm>
          <a:prstGeom prst="rect">
            <a:avLst/>
          </a:prstGeom>
          <a:solidFill>
            <a:srgbClr val="FDFC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29718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2121A"/>
                </a:solidFill>
              </a:rPr>
              <a:t>塔羅/占星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51760" y="2971800"/>
            <a:ext cx="20116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502A"/>
                </a:solidFill>
              </a:rPr>
              <a:t>🔴 競爭激烈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19" y="297180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2121A"/>
                </a:solidFill>
              </a:rPr>
              <a:t>低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59" y="29718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2121A"/>
                </a:solidFill>
              </a:rPr>
              <a:t>中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29718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2121A"/>
                </a:solidFill>
              </a:rPr>
              <a:t>中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3474720"/>
            <a:ext cx="11612880" cy="54864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35661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2121A"/>
                </a:solidFill>
              </a:rPr>
              <a:t>人類圖/數字學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51760" y="3566160"/>
            <a:ext cx="20116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8923A"/>
                </a:solidFill>
              </a:rPr>
              <a:t>🟡 成長期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46319" y="356616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2121A"/>
                </a:solidFill>
              </a:rPr>
              <a:t>中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59" y="35661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2121A"/>
                </a:solidFill>
              </a:rPr>
              <a:t>低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35661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2121A"/>
                </a:solidFill>
              </a:rPr>
              <a:t>高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4069080"/>
            <a:ext cx="11612880" cy="548640"/>
          </a:xfrm>
          <a:prstGeom prst="rect">
            <a:avLst/>
          </a:prstGeom>
          <a:solidFill>
            <a:srgbClr val="FDFC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416052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2121A"/>
                </a:solidFill>
              </a:rPr>
              <a:t>Somatic 身體工作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51760" y="4160520"/>
            <a:ext cx="20116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D8A6E"/>
                </a:solidFill>
              </a:rPr>
              <a:t>🟢 藍海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46319" y="416052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2121A"/>
                </a:solidFill>
              </a:rPr>
              <a:t>高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9359" y="41605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2121A"/>
                </a:solidFill>
              </a:rPr>
              <a:t>低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21040" y="416052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2121A"/>
                </a:solidFill>
              </a:rPr>
              <a:t>極高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4663440"/>
            <a:ext cx="11612880" cy="54864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5760" y="4754879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2121A"/>
                </a:solidFill>
              </a:rPr>
              <a:t>創傷療癒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651760" y="4754879"/>
            <a:ext cx="20116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D8A6E"/>
                </a:solidFill>
              </a:rPr>
              <a:t>🟢 藍海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46319" y="4754879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2121A"/>
                </a:solidFill>
              </a:rPr>
              <a:t>高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09359" y="4754879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2121A"/>
                </a:solidFill>
              </a:rPr>
              <a:t>低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21040" y="4754879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2121A"/>
                </a:solidFill>
              </a:rPr>
              <a:t>極高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4320" y="5257800"/>
            <a:ext cx="11612880" cy="548640"/>
          </a:xfrm>
          <a:prstGeom prst="rect">
            <a:avLst/>
          </a:prstGeom>
          <a:solidFill>
            <a:srgbClr val="FDFC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65760" y="53492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2121A"/>
                </a:solidFill>
              </a:rPr>
              <a:t>企業 Wellness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651760" y="5349240"/>
            <a:ext cx="20116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D8A6E"/>
                </a:solidFill>
              </a:rPr>
              <a:t>🟢 藍海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846319" y="534924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2121A"/>
                </a:solidFill>
              </a:rPr>
              <a:t>中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09359" y="53492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2121A"/>
                </a:solidFill>
              </a:rPr>
              <a:t>低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21040" y="53492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2121A"/>
                </a:solidFill>
              </a:rPr>
              <a:t>極高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74320" y="5852160"/>
            <a:ext cx="11612880" cy="54864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65760" y="59436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2121A"/>
                </a:solidFill>
              </a:rPr>
              <a:t>靈性諮詢/教練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651760" y="5943600"/>
            <a:ext cx="20116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8923A"/>
                </a:solidFill>
              </a:rPr>
              <a:t>🟡 成長期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846319" y="594360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2121A"/>
                </a:solidFill>
              </a:rPr>
              <a:t>中高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309359" y="59436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2121A"/>
                </a:solidFill>
              </a:rPr>
              <a:t>低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21040" y="59436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2121A"/>
                </a:solidFill>
              </a:rPr>
              <a:t>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C4502A"/>
                </a:solidFill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0972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老師痛點地圖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11430000" cy="731520"/>
          </a:xfrm>
          <a:prstGeom prst="rect">
            <a:avLst/>
          </a:prstGeom>
          <a:solidFill>
            <a:srgbClr val="FBE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5331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4502A"/>
                </a:solidFill>
              </a:rPr>
              <a:t>85%  台灣全職身心靈老師年收低於 NT$60 萬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148840"/>
            <a:ext cx="73152" cy="914400"/>
          </a:xfrm>
          <a:prstGeom prst="rect">
            <a:avLst/>
          </a:prstGeom>
          <a:solidFill>
            <a:srgbClr val="C45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2121A"/>
                </a:solidFill>
              </a:rPr>
              <a:t>🧠 認知層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603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5A6E"/>
                </a:solidFill>
              </a:rPr>
              <a:t>「我什麼都會」= 沒有人知道你在服務誰。把「課程好」等同於「會有人來」。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246120"/>
            <a:ext cx="73152" cy="914400"/>
          </a:xfrm>
          <a:prstGeom prst="rect">
            <a:avLst/>
          </a:prstGeom>
          <a:solidFill>
            <a:srgbClr val="C45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29183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2121A"/>
                </a:solidFill>
              </a:rPr>
              <a:t>💭 心態層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657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5A6E"/>
                </a:solidFill>
              </a:rPr>
              <a:t>「談錢傷感情」的靈性矛盾，定價過低、不敢漲價，孤單感強烈缺乏同儕支持。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343400"/>
            <a:ext cx="73152" cy="914400"/>
          </a:xfrm>
          <a:prstGeom prst="rect">
            <a:avLst/>
          </a:prstGeom>
          <a:solidFill>
            <a:srgbClr val="C45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389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2121A"/>
                </a:solidFill>
              </a:rPr>
              <a:t>🔧 技術層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754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5A6E"/>
                </a:solidFill>
              </a:rPr>
              <a:t>不懂演算法、報名系統東拼西湊、做了很多但不知道哪個渠道真正帶來客源。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5440679"/>
            <a:ext cx="73152" cy="914400"/>
          </a:xfrm>
          <a:prstGeom prst="rect">
            <a:avLst/>
          </a:prstGeom>
          <a:solidFill>
            <a:srgbClr val="C45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48639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2121A"/>
                </a:solidFill>
              </a:rPr>
              <a:t>💰 財務層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852159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5A6E"/>
                </a:solidFill>
              </a:rPr>
              <a:t>收入極度不穩定，全靠時間換金錢，缺乏被動收入設計與課程體系規劃。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C4502A"/>
                </a:solidFill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0972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創業旅程四階段</a:t>
            </a:r>
          </a:p>
        </p:txBody>
      </p:sp>
      <p:sp>
        <p:nvSpPr>
          <p:cNvPr id="6" name="Oval 5"/>
          <p:cNvSpPr/>
          <p:nvPr/>
        </p:nvSpPr>
        <p:spPr>
          <a:xfrm>
            <a:off x="1371600" y="1371600"/>
            <a:ext cx="822960" cy="822960"/>
          </a:xfrm>
          <a:prstGeom prst="ellipse">
            <a:avLst/>
          </a:prstGeom>
          <a:solidFill>
            <a:srgbClr val="C45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920240"/>
            <a:ext cx="2286000" cy="4206240"/>
          </a:xfrm>
          <a:prstGeom prst="rect">
            <a:avLst/>
          </a:prstGeom>
          <a:solidFill>
            <a:srgbClr val="FDFC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1371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116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4502A"/>
                </a:solidFill>
              </a:rPr>
              <a:t>萌芽期
0–6月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560320"/>
            <a:ext cx="2286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5A6E"/>
                </a:solidFill>
              </a:rPr>
              <a:t>從熱情到第一個付費客戶
不確定收費資格、定位太廣、
定價靠感覺嚴重低估自己</a:t>
            </a:r>
          </a:p>
        </p:txBody>
      </p:sp>
      <p:sp>
        <p:nvSpPr>
          <p:cNvPr id="11" name="Oval 10"/>
          <p:cNvSpPr/>
          <p:nvPr/>
        </p:nvSpPr>
        <p:spPr>
          <a:xfrm>
            <a:off x="4297680" y="1371600"/>
            <a:ext cx="822960" cy="822960"/>
          </a:xfrm>
          <a:prstGeom prst="ellipse">
            <a:avLst/>
          </a:prstGeom>
          <a:solidFill>
            <a:srgbClr val="C45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66160" y="1920240"/>
            <a:ext cx="2286000" cy="4206240"/>
          </a:xfrm>
          <a:prstGeom prst="rect">
            <a:avLst/>
          </a:prstGeom>
          <a:solidFill>
            <a:srgbClr val="FDFC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1417320"/>
            <a:ext cx="1371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0116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4502A"/>
                </a:solidFill>
              </a:rPr>
              <a:t>生存期
6月–2年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2560320"/>
            <a:ext cx="2286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5A6E"/>
                </a:solidFill>
              </a:rPr>
              <a:t>穩定客源 vs. 收入陷阱
靠口碑接案但旺淡季差 3 倍、
時間天花板無法擴張</a:t>
            </a:r>
          </a:p>
        </p:txBody>
      </p:sp>
      <p:sp>
        <p:nvSpPr>
          <p:cNvPr id="16" name="Oval 15"/>
          <p:cNvSpPr/>
          <p:nvPr/>
        </p:nvSpPr>
        <p:spPr>
          <a:xfrm>
            <a:off x="7223760" y="1371600"/>
            <a:ext cx="822960" cy="822960"/>
          </a:xfrm>
          <a:prstGeom prst="ellipse">
            <a:avLst/>
          </a:prstGeom>
          <a:solidFill>
            <a:srgbClr val="C45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92240" y="1920240"/>
            <a:ext cx="2286000" cy="4206240"/>
          </a:xfrm>
          <a:prstGeom prst="rect">
            <a:avLst/>
          </a:prstGeom>
          <a:solidFill>
            <a:srgbClr val="FDFC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1417320"/>
            <a:ext cx="1371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0116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4502A"/>
                </a:solidFill>
              </a:rPr>
              <a:t>成長期
2–5年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2560320"/>
            <a:ext cx="2286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5A6E"/>
                </a:solidFill>
              </a:rPr>
              <a:t>從個人品牌到影響力槓桿
單打獨鬥上限明顯、
缺乏傳承架構和培訓體系</a:t>
            </a:r>
          </a:p>
        </p:txBody>
      </p:sp>
      <p:sp>
        <p:nvSpPr>
          <p:cNvPr id="21" name="Oval 20"/>
          <p:cNvSpPr/>
          <p:nvPr/>
        </p:nvSpPr>
        <p:spPr>
          <a:xfrm>
            <a:off x="10149840" y="1371600"/>
            <a:ext cx="822960" cy="822960"/>
          </a:xfrm>
          <a:prstGeom prst="ellipse">
            <a:avLst/>
          </a:prstGeom>
          <a:solidFill>
            <a:srgbClr val="C45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418320" y="1920240"/>
            <a:ext cx="2286000" cy="4206240"/>
          </a:xfrm>
          <a:prstGeom prst="rect">
            <a:avLst/>
          </a:prstGeom>
          <a:solidFill>
            <a:srgbClr val="FDFC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0" y="1417320"/>
            <a:ext cx="1371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64040" y="20116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4502A"/>
                </a:solidFill>
              </a:rPr>
              <a:t>成熟期
5年以上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64040" y="2560320"/>
            <a:ext cx="2286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5A6E"/>
                </a:solidFill>
              </a:rPr>
              <a:t>生態系統 vs. 品牌老化
如何從老師升級為平台？
品牌與個人綁定太深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C4502A"/>
                </a:solidFill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0972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未來成長型佈局策略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3657600" cy="2286000"/>
          </a:xfrm>
          <a:prstGeom prst="rect">
            <a:avLst/>
          </a:prstGeom>
          <a:solidFill>
            <a:srgbClr val="FDFC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2121A"/>
                </a:solidFill>
              </a:rPr>
              <a:t>🎯 A · 超級利基定位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57400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5A6E"/>
                </a:solidFill>
              </a:rPr>
              <a:t>「我服務離婚後女性」比「我服務所有女性」貴 3 倍且更容易被找到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371600"/>
            <a:ext cx="3657600" cy="2286000"/>
          </a:xfrm>
          <a:prstGeom prst="rect">
            <a:avLst/>
          </a:prstGeom>
          <a:solidFill>
            <a:srgbClr val="FDFC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5087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2121A"/>
                </a:solidFill>
              </a:rPr>
              <a:t>🏢 B · 企業 B2B 切入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057400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5A6E"/>
                </a:solidFill>
              </a:rPr>
              <a:t>一張 B2B 合約抵 20 個散戶，以「員工身心健康指標」為語言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371600"/>
            <a:ext cx="3657600" cy="2286000"/>
          </a:xfrm>
          <a:prstGeom prst="rect">
            <a:avLst/>
          </a:prstGeom>
          <a:solidFill>
            <a:srgbClr val="FDFC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15087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2121A"/>
                </a:solidFill>
              </a:rPr>
              <a:t>🔄 C · 訂閱制被動收入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057400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5A6E"/>
                </a:solidFill>
              </a:rPr>
              <a:t>月費社群 NT$300-600，解決收入不穩定問題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931920"/>
            <a:ext cx="3657600" cy="2286000"/>
          </a:xfrm>
          <a:prstGeom prst="rect">
            <a:avLst/>
          </a:prstGeom>
          <a:solidFill>
            <a:srgbClr val="FDFC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06908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2121A"/>
                </a:solidFill>
              </a:rPr>
              <a:t>🤝 D · 老師聯盟互引流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617720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5A6E"/>
                </a:solidFill>
              </a:rPr>
              <a:t>不同專長相互推薦聯合開課，合作比競爭更容易創造規模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3931920"/>
            <a:ext cx="3657600" cy="2286000"/>
          </a:xfrm>
          <a:prstGeom prst="rect">
            <a:avLst/>
          </a:prstGeom>
          <a:solidFill>
            <a:srgbClr val="FDFC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406908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2121A"/>
                </a:solidFill>
              </a:rPr>
              <a:t>🧬 E · 方法論化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4617720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5A6E"/>
                </a:solidFill>
              </a:rPr>
              <a:t>給工作方式一個名字，方法論可授權、認證、培訓他人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3931920"/>
            <a:ext cx="3657600" cy="2286000"/>
          </a:xfrm>
          <a:prstGeom prst="rect">
            <a:avLst/>
          </a:prstGeom>
          <a:solidFill>
            <a:srgbClr val="FDFC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406908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2121A"/>
                </a:solidFill>
              </a:rPr>
              <a:t>📊 F · 數據化成效追蹤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4617720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5A6E"/>
                </a:solidFill>
              </a:rPr>
              <a:t>讓客戶看到前後量化變化，可量化成效讓高定價有憑有據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C4502A"/>
                </a:solidFill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0972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補足視角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11430000" cy="685800"/>
          </a:xfrm>
          <a:prstGeom prst="rect">
            <a:avLst/>
          </a:prstGeom>
          <a:solidFill>
            <a:srgbClr val="FBE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5331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4502A"/>
                </a:solidFill>
              </a:rPr>
              <a:t>M 型分化警示：頂尖老師年收 500萬+，中層老師年收 30-60萬，中間地帶正在消失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148840"/>
            <a:ext cx="5486400" cy="1920240"/>
          </a:xfrm>
          <a:prstGeom prst="rect">
            <a:avLst/>
          </a:prstGeom>
          <a:solidFill>
            <a:srgbClr val="FDFC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2148840"/>
            <a:ext cx="64008" cy="1920240"/>
          </a:xfrm>
          <a:prstGeom prst="rect">
            <a:avLst/>
          </a:prstGeom>
          <a:solidFill>
            <a:srgbClr val="2A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28600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2121A"/>
                </a:solidFill>
              </a:rPr>
              <a:t>族群消費力分層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743200"/>
            <a:ext cx="5120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5A6E"/>
                </a:solidFill>
              </a:rPr>
              <a:t>35-55 歲女性主力，職場壓力/家庭/更年期是三大入口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148840"/>
            <a:ext cx="5486400" cy="1920240"/>
          </a:xfrm>
          <a:prstGeom prst="rect">
            <a:avLst/>
          </a:prstGeom>
          <a:solidFill>
            <a:srgbClr val="FDFC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2148840"/>
            <a:ext cx="64008" cy="1920240"/>
          </a:xfrm>
          <a:prstGeom prst="rect">
            <a:avLst/>
          </a:prstGeom>
          <a:solidFill>
            <a:srgbClr val="2A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28600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2121A"/>
                </a:solidFill>
              </a:rPr>
              <a:t>法規灰色地帶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743200"/>
            <a:ext cx="5120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5A6E"/>
                </a:solidFill>
              </a:rPr>
              <a:t>「療癒」勿觸醫療宣稱，改用「個人成長」「壓力管理」語言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343400"/>
            <a:ext cx="5486400" cy="1920240"/>
          </a:xfrm>
          <a:prstGeom prst="rect">
            <a:avLst/>
          </a:prstGeom>
          <a:solidFill>
            <a:srgbClr val="FDFC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4343400"/>
            <a:ext cx="64008" cy="1920240"/>
          </a:xfrm>
          <a:prstGeom prst="rect">
            <a:avLst/>
          </a:prstGeom>
          <a:solidFill>
            <a:srgbClr val="2A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4805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2121A"/>
                </a:solidFill>
              </a:rPr>
              <a:t>地理紅利尚存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937760"/>
            <a:ext cx="5120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5A6E"/>
                </a:solidFill>
              </a:rPr>
              <a:t>台北外縣市供給嚴重不足，滲透率不到台北 30%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4343400"/>
            <a:ext cx="5486400" cy="1920240"/>
          </a:xfrm>
          <a:prstGeom prst="rect">
            <a:avLst/>
          </a:prstGeom>
          <a:solidFill>
            <a:srgbClr val="FDFC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4343400"/>
            <a:ext cx="64008" cy="1920240"/>
          </a:xfrm>
          <a:prstGeom prst="rect">
            <a:avLst/>
          </a:prstGeom>
          <a:solidFill>
            <a:srgbClr val="2A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44805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2121A"/>
                </a:solidFill>
              </a:rPr>
              <a:t>真實收入分布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937760"/>
            <a:ext cx="5120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5A6E"/>
                </a:solidFill>
              </a:rPr>
              <a:t>年收&lt;30萬：42%  30-60萬：43%  60-150萬：12%  150萬+：3%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