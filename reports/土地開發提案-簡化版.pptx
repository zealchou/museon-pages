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0"/>
            <a:ext cx="10692000" cy="3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80000" cy="252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1980000"/>
            <a:ext cx="86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特定工廠 + 用地辦法申請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342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BD7EE"/>
                </a:solidFill>
              </a:rPr>
              <a:t>工廠合法化申請提案說明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4860000"/>
            <a:ext cx="2520000" cy="14400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4932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7EE"/>
                </a:solidFill>
              </a:rPr>
              <a:t>預計完成時間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5400000"/>
            <a:ext cx="23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118年7月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0" y="4860000"/>
            <a:ext cx="2520000" cy="14400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8000" y="4932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7EE"/>
                </a:solidFill>
              </a:rPr>
              <a:t>申請總年限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8000" y="5400000"/>
            <a:ext cx="23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約 3 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0" y="4860000"/>
            <a:ext cx="2520000" cy="14400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8000" y="4932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7EE"/>
                </a:solidFill>
              </a:rPr>
              <a:t>法定截止日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8000" y="5400000"/>
            <a:ext cx="23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6A1A"/>
                </a:solidFill>
              </a:rPr>
              <a:t>129年3月19日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90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執行時程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0" y="72000"/>
            <a:ext cx="32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BBD7EE"/>
                </a:solidFill>
              </a:rPr>
              <a:t>現階段：115年6月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060000"/>
            <a:ext cx="9720000" cy="10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0000" y="2664000"/>
            <a:ext cx="792000" cy="792000"/>
          </a:xfrm>
          <a:prstGeom prst="ellipse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執行
現勘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114年
11月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2000" y="3006000"/>
            <a:ext cx="900000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32000" y="2664000"/>
            <a:ext cx="792000" cy="7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2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納管&amp;
改善計畫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2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18個月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4000" y="3006000"/>
            <a:ext cx="900000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24000" y="2664000"/>
            <a:ext cx="792000" cy="7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4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用地計畫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4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12個月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6000" y="3006000"/>
            <a:ext cx="899999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16000" y="2664000"/>
            <a:ext cx="792000" cy="7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6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回饋金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6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6個月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8000" y="3006000"/>
            <a:ext cx="900000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8000" y="2664000"/>
            <a:ext cx="792000" cy="7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28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建照&amp;
使用執照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8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24個月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0000" y="3006000"/>
            <a:ext cx="900000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00000" y="2664000"/>
            <a:ext cx="792000" cy="792000"/>
          </a:xfrm>
          <a:prstGeom prst="ellipse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0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取得
登記證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0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118年
7月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000" y="4500000"/>
            <a:ext cx="10332000" cy="720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0000" y="4500000"/>
            <a:ext cx="108000" cy="72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000" y="4572000"/>
            <a:ext cx="97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A1A"/>
                </a:solidFill>
              </a:rPr>
              <a:t>目前進度：115年6月 ── 納管&amp;改善計畫執行中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5580000"/>
            <a:ext cx="99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</a:rPr>
              <a:t>總申請期程約 3 年（預計 118 年 7 月完成）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90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9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服務費用 — 各階段支付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80000"/>
            <a:ext cx="9972000" cy="5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116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服務費共分4期支付，依申請進度觸發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800000"/>
            <a:ext cx="9972000" cy="827999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944000"/>
            <a:ext cx="1007999" cy="54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980000"/>
            <a:ext cx="1007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第一期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1835999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B"/>
                </a:solidFill>
              </a:rPr>
              <a:t>簽約金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196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簽約後支付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0" y="1908000"/>
            <a:ext cx="1800000" cy="612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0" y="1944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2000" y="2015999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佔總服務費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736000"/>
            <a:ext cx="9972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2880000"/>
            <a:ext cx="1007999" cy="5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2916000"/>
            <a:ext cx="1007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第二期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0" y="2771999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B"/>
                </a:solidFill>
              </a:rPr>
              <a:t>用地規劃完成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3131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規劃完成後支付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0" y="2844000"/>
            <a:ext cx="1800000" cy="61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0" y="288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2951999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佔總服務費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3671999"/>
            <a:ext cx="9972000" cy="827999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" y="3816000"/>
            <a:ext cx="1007999" cy="5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3851999"/>
            <a:ext cx="1007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第三期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0000" y="3707999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B"/>
                </a:solidFill>
              </a:rPr>
              <a:t>用地計畫通過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0000" y="4067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核准通過後支付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0" y="3780000"/>
            <a:ext cx="1800000" cy="61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0" y="3816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2000" y="3887999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佔總服務費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4608000"/>
            <a:ext cx="9972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000" y="4752000"/>
            <a:ext cx="1007999" cy="5400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000" y="4788000"/>
            <a:ext cx="1007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第四期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0000" y="4644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B"/>
                </a:solidFill>
              </a:rPr>
              <a:t>用地計畫核定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0000" y="5004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最終核定後支付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0" y="4716000"/>
            <a:ext cx="1800000" cy="6120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0000" y="4752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2000" y="4824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佔總服務費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90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9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回饋金說明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1260000"/>
            <a:ext cx="3600000" cy="21600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0000" y="1260000"/>
            <a:ext cx="3600000" cy="2160000"/>
          </a:xfrm>
          <a:prstGeom prst="rect">
            <a:avLst/>
          </a:prstGeom>
          <a:noFill/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0000" y="1440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</a:rPr>
              <a:t>回饋金金額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1908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B356B"/>
                </a:solidFill>
              </a:rPr>
              <a:t>約 810 萬元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2880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</a:rPr>
              <a:t>（政府規定費用）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0" y="1260000"/>
            <a:ext cx="4680000" cy="216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0" y="1260000"/>
            <a:ext cx="4680000" cy="2160000"/>
          </a:xfrm>
          <a:prstGeom prst="rect">
            <a:avLst/>
          </a:prstGeom>
          <a:noFill/>
          <a:ln w="254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0" y="144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</a:rPr>
              <a:t>繳納方式（二擇一）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80000" y="1980000"/>
            <a:ext cx="1980000" cy="108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0000" y="2052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一次繳納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0000" y="244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全額一次付清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0" y="1980000"/>
            <a:ext cx="1980000" cy="10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0" y="2052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4次分期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0" y="244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分4期繳清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" y="3780000"/>
            <a:ext cx="9252000" cy="900000"/>
          </a:xfrm>
          <a:prstGeom prst="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0000" y="3780000"/>
            <a:ext cx="144000" cy="90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000" y="3996000"/>
            <a:ext cx="88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注意：建照、使用執照等政府簽證費用視實際情況另計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" y="5040000"/>
            <a:ext cx="9252000" cy="1620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0000" y="5040000"/>
            <a:ext cx="144000" cy="16200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0000" y="5148000"/>
            <a:ext cx="88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48"/>
                </a:solidFill>
              </a:rPr>
              <a:t>重要提醒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5580000"/>
            <a:ext cx="88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回饋金為政府規定費用，與服務費用分開計算
回饋金依據工廠規模與用地大小由政府核定，約 810 萬元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90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9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完整申請流程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260000"/>
            <a:ext cx="1296000" cy="432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執行現勘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114年11月
啟動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55999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35999" y="1260000"/>
            <a:ext cx="1296000" cy="43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5999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35999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8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納管&amp;
改善計畫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8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約18個月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1999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1260000"/>
            <a:ext cx="1296000" cy="43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1999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1999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999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用地計畫
申請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1999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999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約12個月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000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88000" y="1260000"/>
            <a:ext cx="1296000" cy="43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8000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88000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繳納
回饋金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88000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0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約6個月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4000" y="2160000"/>
            <a:ext cx="179999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999" y="1260000"/>
            <a:ext cx="1296000" cy="43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999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999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5999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申請建照&amp;
使用執照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999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5999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約24個月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60000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40000" y="1260000"/>
            <a:ext cx="1296000" cy="4320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0000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40000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2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取得特定
工廠登記證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40000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2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118年7月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36000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16000" y="1260000"/>
            <a:ext cx="1296000" cy="432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6000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16000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8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一般工廠
登記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16000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8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129年3月
19日前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0000" y="5400000"/>
            <a:ext cx="9972000" cy="720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0000" y="5400000"/>
            <a:ext cx="108000" cy="72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000" y="5544000"/>
            <a:ext cx="9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6A1A"/>
                </a:solidFill>
              </a:rPr>
              <a:t>⚠ 129年3月19日為法定申請截止日，超過日期不得申請，請及早啟動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